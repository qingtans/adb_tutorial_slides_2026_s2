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6" r:id="rId7"/>
    <p:sldId id="268" r:id="rId8"/>
    <p:sldId id="269" r:id="rId9"/>
    <p:sldId id="27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00"/>
    <p:restoredTop sz="94613"/>
  </p:normalViewPr>
  <p:slideViewPr>
    <p:cSldViewPr snapToGrid="0">
      <p:cViewPr varScale="1">
        <p:scale>
          <a:sx n="119" d="100"/>
          <a:sy n="119" d="100"/>
        </p:scale>
        <p:origin x="2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EABC3-F3F9-4641-BBCE-00CB5E63FA97}" type="datetimeFigureOut">
              <a:rPr lang="en-US" smtClean="0"/>
              <a:t>8/10/26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4BC5A8-3F05-F645-BB9D-C4DB87059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415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1DE8A-EC17-9E2B-6ED8-5AC7349BD7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9F75B-33D9-7391-7E7B-62959367C8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64BAD-1C3B-1DCE-26AF-2E5A51753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B1C1-5F64-EE4F-AC15-454C7FB04D8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04852-9E80-EDB9-520C-DF44701CF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1CFBF-2C0F-CFCE-A6A5-737B93748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85FD-4D63-3340-B1A6-122C596A1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22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A3F47-1F0C-DB8D-7D92-13DA349BB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9B9C7-B6A5-D555-5D86-7677269C2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C1E55-D736-4337-DE0F-830E8BF77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B1C1-5F64-EE4F-AC15-454C7FB04D8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8A6E2-74B9-14F1-725D-0E78CF9C4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70D8F-DC39-916C-DEC7-5FDB0C3F0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85FD-4D63-3340-B1A6-122C596A1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070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07625-8839-F329-0748-048C28542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46923E-F3EB-ADFC-EFAD-642E0F7B9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CF5B3-2F2B-4627-7187-1EF724D22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B1C1-5F64-EE4F-AC15-454C7FB04D8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57BD3-39B7-62A5-FBF9-50D6FBECD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65F99-4BEB-A574-5B86-A2E36F43F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85FD-4D63-3340-B1A6-122C596A1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086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828C6-FE30-B6DB-C82F-7450ED771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9BEB9-CCE4-67C8-C0D3-2DBD38AC5E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45D79F-6E59-CFC3-AAC0-EBF234016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1C6247-7AA8-5D9D-EF95-0C051E484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B1C1-5F64-EE4F-AC15-454C7FB04D8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463CE9-12F1-9D77-4EFA-F48427B3C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EC13B-4A32-9822-35A5-B3B71561D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85FD-4D63-3340-B1A6-122C596A1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422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F669F-5D3B-4599-8BF0-7D7E94AEA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8716-716B-A6AF-BE1C-1A4C3E0BF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22AD6C-9787-3A22-5F7D-CB98EC7EF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09CB01-F6FC-F27E-1A22-A447F03309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37A0F5-33DE-9C6F-7A9A-945AE8969B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BA64D7-7B9B-B090-7296-A4A70BF3E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B1C1-5F64-EE4F-AC15-454C7FB04D8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F1ED8E-0910-791B-0A88-8CD7ADFB5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675075-FDEC-C76D-CAD3-E44294985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85FD-4D63-3340-B1A6-122C596A1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879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55C5A-35E6-FA0B-23CA-1DC71FE29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39F4A0-FB5F-414C-FF5A-18460BF82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B1C1-5F64-EE4F-AC15-454C7FB04D8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3F8401-B2C4-58F0-E5FE-EF6AB40B6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37112-AAFD-C49B-67CC-0DF6122D9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85FD-4D63-3340-B1A6-122C596A1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55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202F73-E9F3-997A-B745-37B550F56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B1C1-5F64-EE4F-AC15-454C7FB04D8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D0385D-A542-6007-64A7-4B36E0CFD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BD033-5FAB-D1FB-494D-7FFA22F45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85FD-4D63-3340-B1A6-122C596A1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305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8E715-BA9F-2F58-E624-E37542E4C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F1196-F3A8-9319-5B07-F1A959957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9801AD-3542-30E7-86C5-5620ECD16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F2D634-89FC-A69C-6462-F0E42A1D4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B1C1-5F64-EE4F-AC15-454C7FB04D8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3F211F-8EF7-F735-EE58-D8C729A90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515F6-F01E-1508-3087-02E8EC84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85FD-4D63-3340-B1A6-122C596A1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30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485F7-99A4-7747-B313-370672FD4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25158B-FFC3-A32E-4E97-EC506FA99F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2E5D5D-72CF-CF18-766B-1F592B21B8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F3FF9-7F17-8B02-BF9D-19BB6ABCF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B1C1-5F64-EE4F-AC15-454C7FB04D8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D9A3E-C4D5-674C-26E0-6020F511D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2E0741-DF33-FABD-2D31-8E7649929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85FD-4D63-3340-B1A6-122C596A1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514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4FAF0-4BC7-BE1E-C9FF-5D0FBB8A0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487580-1FE8-39BD-0A73-23D5AB4E4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9B272-DEEB-AC2F-1446-F022791E9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B1C1-5F64-EE4F-AC15-454C7FB04D8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77CAB-BA76-939D-B5BD-F93B695D2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7BE4C-AA4C-D941-F338-24D15916C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85FD-4D63-3340-B1A6-122C596A1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558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AA93B4-5E97-72E9-2BDF-17450318CB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6A1020-8265-FFB2-1BAB-0D28A6B6D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FCBF9-5F21-BF0E-4DAE-A60BCF497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B1C1-5F64-EE4F-AC15-454C7FB04D8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FA19C-E723-00A1-CB55-DED43577B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E7DCC-02E0-A8C8-57A9-F3BC508AB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85FD-4D63-3340-B1A6-122C596A1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29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BCDE7E-ED3E-E16B-4D2E-86712D711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56FA5-0723-22A1-C3B4-B81D44119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8BA02-95AA-B1DB-192D-B3F431206C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19B1C1-5F64-EE4F-AC15-454C7FB04D8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12CD9-99C4-923E-6778-28FFD04D73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B3646-33C2-E5FD-665F-5715C619A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7285FD-4D63-3340-B1A6-122C596A1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302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5F9CF-EF83-E993-3E21-DC17FC8BF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36948"/>
            <a:ext cx="9144000" cy="878715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Tutorial Week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B1EB78-245C-666F-7E9F-30930E7ED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34428"/>
            <a:ext cx="9144000" cy="3419061"/>
          </a:xfrm>
        </p:spPr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Workshop questions: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Disk Drive (HDD) / Solid State Drive (SSD)</a:t>
            </a:r>
          </a:p>
          <a:p>
            <a:pPr marL="457200" indent="-457200" algn="l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/ Main Memory</a:t>
            </a:r>
          </a:p>
          <a:p>
            <a:pPr marL="457200" indent="-457200" algn="l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NoSQL databases</a:t>
            </a:r>
          </a:p>
          <a:p>
            <a:pPr marL="457200" indent="-457200" algn="l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459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5215F-4824-BD11-7D25-94F206394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87228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051F3-298D-9767-B534-CE0143CF8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2354"/>
            <a:ext cx="10515600" cy="50185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hard disk drive (HDD)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Definitions of (track / sector / cluster)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Seek time delay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Rotate time delay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it possible: (Seek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time+Rotate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= 0)?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solid state drive (SSD)</a:t>
            </a:r>
          </a:p>
        </p:txBody>
      </p:sp>
      <p:pic>
        <p:nvPicPr>
          <p:cNvPr id="7" name="Picture 6" descr="A diagram of a circular object with text&#10;&#10;Description automatically generated">
            <a:extLst>
              <a:ext uri="{FF2B5EF4-FFF2-40B4-BE49-F238E27FC236}">
                <a16:creationId xmlns:a16="http://schemas.microsoft.com/office/drawing/2014/main" id="{E6E0E17C-C739-BAE5-229C-B4A6894BC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196" y="1552354"/>
            <a:ext cx="4587358" cy="410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34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CD9B4-7D82-216F-FFD5-81C752981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  <a:endParaRPr lang="en-US" dirty="0"/>
          </a:p>
        </p:txBody>
      </p:sp>
      <p:pic>
        <p:nvPicPr>
          <p:cNvPr id="5" name="Content Placeholder 4" descr="A white background with blue text&#10;&#10;Description automatically generated">
            <a:extLst>
              <a:ext uri="{FF2B5EF4-FFF2-40B4-BE49-F238E27FC236}">
                <a16:creationId xmlns:a16="http://schemas.microsoft.com/office/drawing/2014/main" id="{3B19BE12-B547-577B-683A-37B10260D1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325345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EC1910-5415-C749-7977-F7D2DF012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403702"/>
            <a:ext cx="7772400" cy="94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541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22519-0039-4B45-990D-BF696517B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63378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79E49-7CF9-DE8F-3F50-0171233C4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8504"/>
            <a:ext cx="10515600" cy="45484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Memory Structure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Definitions of (Cache / Main Memory)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Cache: smaller, faster, stores frequently accessed data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Memory: larger, slower, primary memory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hits / cache miss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D9395A-0420-9AE1-D6E0-9EBAC230E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060114"/>
            <a:ext cx="10299677" cy="872854"/>
          </a:xfrm>
          <a:prstGeom prst="rect">
            <a:avLst/>
          </a:prstGeom>
        </p:spPr>
      </p:pic>
      <p:pic>
        <p:nvPicPr>
          <p:cNvPr id="9" name="Picture 8" descr="A diagram of a computer process&#10;&#10;Description automatically generated">
            <a:extLst>
              <a:ext uri="{FF2B5EF4-FFF2-40B4-BE49-F238E27FC236}">
                <a16:creationId xmlns:a16="http://schemas.microsoft.com/office/drawing/2014/main" id="{FE48C5AD-C872-16DC-A79E-8E06C2709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4203" y="1797886"/>
            <a:ext cx="3879597" cy="316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550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E99B6-E0F3-094A-0A08-502CA84BC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93709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  <a:endParaRPr lang="en-US" dirty="0"/>
          </a:p>
        </p:txBody>
      </p:sp>
      <p:pic>
        <p:nvPicPr>
          <p:cNvPr id="5" name="Content Placeholder 4" descr="A math problem with numbers and symbols&#10;&#10;Description automatically generated with medium confidence">
            <a:extLst>
              <a:ext uri="{FF2B5EF4-FFF2-40B4-BE49-F238E27FC236}">
                <a16:creationId xmlns:a16="http://schemas.microsoft.com/office/drawing/2014/main" id="{ECE35435-DDF6-3055-0321-7ED21D22A3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58834"/>
            <a:ext cx="12186206" cy="3695816"/>
          </a:xfrm>
        </p:spPr>
      </p:pic>
    </p:spTree>
    <p:extLst>
      <p:ext uri="{BB962C8B-B14F-4D97-AF65-F5344CB8AC3E}">
        <p14:creationId xmlns:p14="http://schemas.microsoft.com/office/powerpoint/2010/main" val="3356143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0BF71-7229-5BFA-7C81-B484F635C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F5C0A8-1EEA-5485-A3D5-AF02EF3BE3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7052" y="1690688"/>
            <a:ext cx="11037896" cy="37478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6DC48D-F494-6965-5F74-10058213468C}"/>
              </a:ext>
            </a:extLst>
          </p:cNvPr>
          <p:cNvSpPr txBox="1"/>
          <p:nvPr/>
        </p:nvSpPr>
        <p:spPr>
          <a:xfrm>
            <a:off x="1935480" y="2262920"/>
            <a:ext cx="14316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students.txt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8F5D97-B28A-8C78-90B8-60F1ACD13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717800"/>
            <a:ext cx="3845773" cy="11226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139CE0-1CCC-277E-B2C1-7CEEE64E16F9}"/>
              </a:ext>
            </a:extLst>
          </p:cNvPr>
          <p:cNvSpPr txBox="1"/>
          <p:nvPr/>
        </p:nvSpPr>
        <p:spPr>
          <a:xfrm>
            <a:off x="7777779" y="2262920"/>
            <a:ext cx="8563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RDBS</a:t>
            </a:r>
          </a:p>
        </p:txBody>
      </p:sp>
      <p:pic>
        <p:nvPicPr>
          <p:cNvPr id="9" name="Picture 8" descr="A diagram of a product&#10;&#10;AI-generated content may be incorrect.">
            <a:extLst>
              <a:ext uri="{FF2B5EF4-FFF2-40B4-BE49-F238E27FC236}">
                <a16:creationId xmlns:a16="http://schemas.microsoft.com/office/drawing/2014/main" id="{1F0B7D05-DF5F-9534-191B-66328FAA9F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17800"/>
            <a:ext cx="4407750" cy="17109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58297F2-A294-E76F-655C-5542C2D475E8}"/>
              </a:ext>
            </a:extLst>
          </p:cNvPr>
          <p:cNvSpPr txBox="1"/>
          <p:nvPr/>
        </p:nvSpPr>
        <p:spPr>
          <a:xfrm>
            <a:off x="1545079" y="4292756"/>
            <a:ext cx="22124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DB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232818-7D2A-EB8D-DC57-3559430142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9879" y="4692866"/>
            <a:ext cx="1657265" cy="216378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11306E3-039D-A578-D697-4E2E50E07735}"/>
              </a:ext>
            </a:extLst>
          </p:cNvPr>
          <p:cNvSpPr txBox="1"/>
          <p:nvPr/>
        </p:nvSpPr>
        <p:spPr>
          <a:xfrm>
            <a:off x="7709798" y="4428778"/>
            <a:ext cx="9845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NoSQL</a:t>
            </a:r>
          </a:p>
        </p:txBody>
      </p:sp>
      <p:pic>
        <p:nvPicPr>
          <p:cNvPr id="13" name="Picture 12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20A43ACB-C21D-76A0-5EA2-63673BC2E8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0580" y="4761403"/>
            <a:ext cx="1523000" cy="209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947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B890A-78CF-6058-3EE2-2B71F4389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7538F-1249-67B6-6D41-E8A749FC5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E89A3F-147F-0AD3-820B-F20408E15F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7052" y="1690688"/>
            <a:ext cx="11037896" cy="374780"/>
          </a:xfrm>
        </p:spPr>
      </p:pic>
      <p:pic>
        <p:nvPicPr>
          <p:cNvPr id="4" name="Picture 3" descr="A close-up of blue text&#10;&#10;AI-generated content may be incorrect.">
            <a:extLst>
              <a:ext uri="{FF2B5EF4-FFF2-40B4-BE49-F238E27FC236}">
                <a16:creationId xmlns:a16="http://schemas.microsoft.com/office/drawing/2014/main" id="{898B6522-074F-43DF-A5DF-1A2222CC0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20999"/>
            <a:ext cx="6104532" cy="2597673"/>
          </a:xfrm>
          <a:prstGeom prst="rect">
            <a:avLst/>
          </a:prstGeom>
        </p:spPr>
      </p:pic>
      <p:pic>
        <p:nvPicPr>
          <p:cNvPr id="8" name="Picture 7" descr="A diagram of a product&#10;&#10;AI-generated content may be incorrect.">
            <a:extLst>
              <a:ext uri="{FF2B5EF4-FFF2-40B4-BE49-F238E27FC236}">
                <a16:creationId xmlns:a16="http://schemas.microsoft.com/office/drawing/2014/main" id="{76C9E0E8-F109-904A-254C-617C47F9C0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732" y="4132206"/>
            <a:ext cx="4940300" cy="19177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088FA5D-72BD-FCD7-A4FD-F6D2519C44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2732" y="2546219"/>
            <a:ext cx="3845773" cy="1122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651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6C362-FBFD-3A46-1508-812C3A36C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08D7D-9116-E241-9F5B-D21DE1A41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2E1345-638B-16C8-2B7D-757222440B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7052" y="1690688"/>
            <a:ext cx="11037896" cy="374780"/>
          </a:xfrm>
        </p:spPr>
      </p:pic>
      <p:pic>
        <p:nvPicPr>
          <p:cNvPr id="4" name="Picture 3" descr="A close-up of blue text&#10;&#10;AI-generated content may be incorrect.">
            <a:extLst>
              <a:ext uri="{FF2B5EF4-FFF2-40B4-BE49-F238E27FC236}">
                <a16:creationId xmlns:a16="http://schemas.microsoft.com/office/drawing/2014/main" id="{26E64E5D-054D-D28E-60F5-B36704605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049" y="2282525"/>
            <a:ext cx="7530657" cy="18588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8E69BC-6B3F-5C31-C763-089F3612E7DA}"/>
              </a:ext>
            </a:extLst>
          </p:cNvPr>
          <p:cNvSpPr txBox="1"/>
          <p:nvPr/>
        </p:nvSpPr>
        <p:spPr>
          <a:xfrm>
            <a:off x="7800220" y="2059617"/>
            <a:ext cx="4068743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Oriented example: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is slow (no indexes, more data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load)</a:t>
            </a:r>
          </a:p>
        </p:txBody>
      </p:sp>
      <p:pic>
        <p:nvPicPr>
          <p:cNvPr id="8" name="Picture 7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471B8CC6-0C2E-6A5E-110A-B1F7BD191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2959" y="4358416"/>
            <a:ext cx="1768836" cy="24350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61EDF9-AB86-DA78-F064-293BC87328EB}"/>
              </a:ext>
            </a:extLst>
          </p:cNvPr>
          <p:cNvSpPr txBox="1"/>
          <p:nvPr/>
        </p:nvSpPr>
        <p:spPr>
          <a:xfrm>
            <a:off x="1118795" y="5007685"/>
            <a:ext cx="1798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NoSQL example: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7D26C-2739-5C89-429B-E01A9660FE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795" y="6405852"/>
            <a:ext cx="8927721" cy="4606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71CC76-E2B4-84DB-E8E4-769E34B678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8557" y="2451950"/>
            <a:ext cx="2302678" cy="300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077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B2BC1-9AF4-8E00-0957-DAA90B42C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7FA7A-6ABD-5777-D123-E50CB096A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02418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21D2FA-A673-3AAD-E3B4-27DC0E1AC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67544"/>
            <a:ext cx="8457726" cy="7023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03D69AE-2ED2-561E-9111-B5B8470431A9}"/>
              </a:ext>
            </a:extLst>
          </p:cNvPr>
          <p:cNvSpPr txBox="1"/>
          <p:nvPr/>
        </p:nvSpPr>
        <p:spPr>
          <a:xfrm>
            <a:off x="1043492" y="3119718"/>
            <a:ext cx="90637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– value database / document storage / column based / graph storage</a:t>
            </a:r>
          </a:p>
        </p:txBody>
      </p:sp>
    </p:spTree>
    <p:extLst>
      <p:ext uri="{BB962C8B-B14F-4D97-AF65-F5344CB8AC3E}">
        <p14:creationId xmlns:p14="http://schemas.microsoft.com/office/powerpoint/2010/main" val="1685138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73D6A-3C50-FBF1-67E3-52CE93AE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02418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D8FA6-73E0-D59C-EC26-BE439AFA3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544"/>
            <a:ext cx="10515600" cy="46094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Key-value database: no need complex relational structure, only key-value pairs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</p:txBody>
      </p:sp>
      <p:pic>
        <p:nvPicPr>
          <p:cNvPr id="5" name="Picture 4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948AEB9D-3DD8-4E03-7332-7C6987722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966" y="2529680"/>
            <a:ext cx="2531212" cy="34845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2997DB-6590-31F4-3065-D1AE62F612AD}"/>
              </a:ext>
            </a:extLst>
          </p:cNvPr>
          <p:cNvSpPr txBox="1"/>
          <p:nvPr/>
        </p:nvSpPr>
        <p:spPr>
          <a:xfrm>
            <a:off x="3812125" y="2529680"/>
            <a:ext cx="36391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Advantage: insertion / search fast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D35403-9A98-309F-A0D1-AB82FC00E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2125" y="3642116"/>
            <a:ext cx="8166712" cy="57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105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DB9CC-AF69-ECC4-65A0-02B246320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42002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4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19FD7-7BBC-64E0-E0A0-E50B6B90B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7128"/>
            <a:ext cx="10515600" cy="456983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storage: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092E0F-06DB-0066-5D28-ADAD87198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34781"/>
            <a:ext cx="10615726" cy="3213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7BC1D7-AEF4-09B2-216A-FAEC2A6A9D0D}"/>
              </a:ext>
            </a:extLst>
          </p:cNvPr>
          <p:cNvSpPr txBox="1"/>
          <p:nvPr/>
        </p:nvSpPr>
        <p:spPr>
          <a:xfrm>
            <a:off x="1041991" y="2583712"/>
            <a:ext cx="1438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</p:txBody>
      </p:sp>
      <p:pic>
        <p:nvPicPr>
          <p:cNvPr id="8" name="Picture 7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71226622-92CB-1F0C-FD38-2F6E03A32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991" y="3057729"/>
            <a:ext cx="3225209" cy="2641220"/>
          </a:xfrm>
          <a:prstGeom prst="rect">
            <a:avLst/>
          </a:prstGeom>
        </p:spPr>
      </p:pic>
      <p:pic>
        <p:nvPicPr>
          <p:cNvPr id="10" name="Picture 9" descr="A computer screen with text&#10;&#10;Description automatically generated">
            <a:extLst>
              <a:ext uri="{FF2B5EF4-FFF2-40B4-BE49-F238E27FC236}">
                <a16:creationId xmlns:a16="http://schemas.microsoft.com/office/drawing/2014/main" id="{23970142-A212-AC9D-D9F5-BD716BE26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777" y="3045377"/>
            <a:ext cx="4711061" cy="26418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D2E3F7-3D9E-C3B0-1F8F-D40D644B7D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990" y="5874588"/>
            <a:ext cx="9941913" cy="46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036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3BB1F-EBE7-004E-82BC-2A5EEE541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4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8022F-5540-F728-F275-09321AD2C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Column-based NoSQL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Relational database (Row-based)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screenshot of a phone&#10;&#10;Description automatically generated">
            <a:extLst>
              <a:ext uri="{FF2B5EF4-FFF2-40B4-BE49-F238E27FC236}">
                <a16:creationId xmlns:a16="http://schemas.microsoft.com/office/drawing/2014/main" id="{D9AD2BB5-6425-8FE3-99C5-FE4A9DC39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19425"/>
            <a:ext cx="7378700" cy="1828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FA05F5-F5EC-6703-063C-D525052D3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716173"/>
            <a:ext cx="10068878" cy="687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0BC6CE-CF51-6A39-921B-72A07FD0AD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178292"/>
            <a:ext cx="9575336" cy="33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863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0DC62-FA58-D639-09A8-16A21E9E7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4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A4DC4-4467-BDCF-8ADC-56122B52B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storage: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Neo4j database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38ED1A-63F3-AB0A-3EA4-0644C43B6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161840"/>
            <a:ext cx="9782661" cy="729142"/>
          </a:xfrm>
          <a:prstGeom prst="rect">
            <a:avLst/>
          </a:prstGeom>
        </p:spPr>
      </p:pic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B9B1651-CBDD-E403-7728-0B93C8CCF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518933"/>
            <a:ext cx="6200554" cy="10408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D582A6-A613-91E0-8C26-71292CF79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4732079"/>
            <a:ext cx="6200554" cy="6134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D82EE2-BC21-EC8B-BCCC-75EC034C50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99" y="5722127"/>
            <a:ext cx="10093027" cy="45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290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802</TotalTime>
  <Words>207</Words>
  <Application>Microsoft Macintosh PowerPoint</Application>
  <PresentationFormat>Widescreen</PresentationFormat>
  <Paragraphs>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Times New Roman</vt:lpstr>
      <vt:lpstr>Office Theme</vt:lpstr>
      <vt:lpstr>Tutorial Week 3</vt:lpstr>
      <vt:lpstr>Question 1</vt:lpstr>
      <vt:lpstr>Question 1</vt:lpstr>
      <vt:lpstr>Question 2</vt:lpstr>
      <vt:lpstr>Question 2</vt:lpstr>
      <vt:lpstr>Question 3</vt:lpstr>
      <vt:lpstr>Question 3</vt:lpstr>
      <vt:lpstr>Question 3</vt:lpstr>
      <vt:lpstr>Question 4</vt:lpstr>
      <vt:lpstr>Question 4</vt:lpstr>
      <vt:lpstr>Question 4</vt:lpstr>
      <vt:lpstr>Question 4</vt:lpstr>
      <vt:lpstr>Question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Qingtan Shen</dc:creator>
  <cp:lastModifiedBy>Qingtan Shen</cp:lastModifiedBy>
  <cp:revision>12</cp:revision>
  <dcterms:created xsi:type="dcterms:W3CDTF">2024-07-30T08:24:40Z</dcterms:created>
  <dcterms:modified xsi:type="dcterms:W3CDTF">2026-08-10T04:11:39Z</dcterms:modified>
</cp:coreProperties>
</file>