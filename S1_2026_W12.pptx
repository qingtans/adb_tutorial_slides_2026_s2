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70" r:id="rId5"/>
    <p:sldId id="260" r:id="rId6"/>
    <p:sldId id="271" r:id="rId7"/>
    <p:sldId id="262" r:id="rId8"/>
    <p:sldId id="269" r:id="rId9"/>
    <p:sldId id="272" r:id="rId10"/>
    <p:sldId id="264" r:id="rId11"/>
    <p:sldId id="265" r:id="rId12"/>
    <p:sldId id="263" r:id="rId13"/>
    <p:sldId id="267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1"/>
    <p:restoredTop sz="94568"/>
  </p:normalViewPr>
  <p:slideViewPr>
    <p:cSldViewPr snapToGrid="0">
      <p:cViewPr varScale="1">
        <p:scale>
          <a:sx n="116" d="100"/>
          <a:sy n="116" d="100"/>
        </p:scale>
        <p:origin x="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5F482-7E1C-9E48-81A1-B8FA84354BA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81D30-7AE2-8A4D-A6AA-B824316967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2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81D30-7AE2-8A4D-A6AA-B824316967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C931-9B24-EA06-AE16-6CF420408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F2BFA-F5DC-E49F-CBE9-2DD6C563F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AC499-1BFF-EB22-D9C1-C65B51DA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E8E6A-D1F1-E68A-A23A-E981D7224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136A5-8838-255C-02E8-699D426DF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0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2B77-F3CB-3F86-6270-938749C3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7312-EE4F-4C75-F4C4-8E36EB5AF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109A5-C3A5-768B-3D66-EBAD3A10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6C9D5-6711-1CAE-39D8-DEF0873E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F4AFB-D093-FBD0-00DC-210F5045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9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3045-A815-91E9-5CA0-4E8715C9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229D5-604D-D407-7B07-FDDF2FDF9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73756-C58A-4F3F-6A2D-2C574333A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D4735-0B87-3406-640B-C2BB1A17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96250-46B5-10B0-43F0-D6F9137E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3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611D-DBA2-BA52-80DF-7F1E3BE8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2CF09-A6EC-B065-16C0-5D9659C7F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4EDE9-59A5-9A45-5113-096EA3B99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5891B-1112-DAD7-B90C-E2F0E21B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C0E06-1F92-21A5-B838-62117680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EC98D-D2EE-E620-DA27-005A0D2C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2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9775-AD65-AF9B-38C0-3C6345896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A2569-6147-8290-897F-372FAB5A1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39700-2E7A-7690-41EB-6EC460214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615F2-48AB-9A80-40E6-51D86744E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DF58D3-48A5-3973-AAB6-8EB64008C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D36FFD-FA13-D349-B42C-20FA0C319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EE122-CADE-1AC4-43DD-4690D159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E1538-9FF4-6F88-1C3B-4848EEC63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3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E875-F164-7BEA-E679-113CCC81C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4EA5BF-75DE-52BB-01EB-22205A467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7CC5AC-119A-6299-3BF4-F38A1753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2DBB3-C042-203B-0C73-77B114A9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24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5D1F7A-790D-C6F9-6DBB-B3BE9F7D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9E595-F7C0-C3E3-A772-A8458C24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1039B-826B-118D-89B3-D11BE027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C96A-4ABA-C00B-3CE4-D018B8B39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DC100-C467-3621-650F-EE9432719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B1C7A-61F4-C244-B2C9-A100348CE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68919-1154-B09D-1D3D-C7191CA8F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B021B-485E-BC4B-F982-F05BB77E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0F4D3-484A-89FD-89F5-393DB236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62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D11F-DA0B-CF0F-8AFF-8D313639F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28278-2166-7AC1-B385-1C985DC74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CBD15-DC7F-0F41-CB17-ED707E41E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17BAD-8C41-0E22-AB63-F4016AA0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8B81-CBC3-3A9F-E540-49BEC00CD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342F8-08E7-E7EA-3934-7D8DFEB6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6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06381-A1BF-D399-28E5-F715ACB7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46153-D875-CCC5-1D59-54B1DF85D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C9EBC-C46B-5540-664A-EEAE807B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A5113-C940-0154-2574-FD2DAD9A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C80F7-A3E2-E161-44A6-CE5A972F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8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919A4C-EB04-44BE-A98B-B8CDF57A5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CC28B-6ACF-4E65-4DA7-DC0D55274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5CA07-3183-0DBA-F626-FF5546AA6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63FE3-23B1-2D5B-8ED2-3D143ECA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CE4A-54CD-2C9B-2414-EECD34506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9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E39FC6-E30A-18A2-B510-2854B4B8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B8124-F172-91C4-A265-70817DDD5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37AE9-13A5-5459-ECE2-331ACC6F8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EBAAB-F0E9-2840-9847-06215EF3D397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6022C-2B1A-EDA8-5524-614893299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459B9-98D3-C7A8-E528-511F214A3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BF042-F6E6-F84A-A088-FF2D6B05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9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698F-4FE0-5C22-6042-42DC73AA8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442"/>
            <a:ext cx="9144000" cy="1024489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Week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A30F0-1D34-3937-8430-44D97F3AD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46852"/>
            <a:ext cx="9534861" cy="392046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9: (checkpoint / distributed databases)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379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BD8E-2BDD-B23C-6442-0214C1163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</a:p>
        </p:txBody>
      </p:sp>
      <p:pic>
        <p:nvPicPr>
          <p:cNvPr id="5" name="Content Placeholder 4" descr="A diagram of a line&#10;&#10;Description automatically generated">
            <a:extLst>
              <a:ext uri="{FF2B5EF4-FFF2-40B4-BE49-F238E27FC236}">
                <a16:creationId xmlns:a16="http://schemas.microsoft.com/office/drawing/2014/main" id="{707ADCC6-0344-C9CD-FEB5-DD1FE097B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94100"/>
            <a:ext cx="10408183" cy="3758906"/>
          </a:xfrm>
        </p:spPr>
      </p:pic>
    </p:spTree>
    <p:extLst>
      <p:ext uri="{BB962C8B-B14F-4D97-AF65-F5344CB8AC3E}">
        <p14:creationId xmlns:p14="http://schemas.microsoft.com/office/powerpoint/2010/main" val="605078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E453-FF51-5AE2-A24A-860F33298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</a:p>
        </p:txBody>
      </p:sp>
      <p:pic>
        <p:nvPicPr>
          <p:cNvPr id="5" name="Content Placeholder 4" descr="A diagram of a line&#10;&#10;Description automatically generated">
            <a:extLst>
              <a:ext uri="{FF2B5EF4-FFF2-40B4-BE49-F238E27FC236}">
                <a16:creationId xmlns:a16="http://schemas.microsoft.com/office/drawing/2014/main" id="{4277FCA9-9A5B-012E-A411-6625D8404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117" y="1312433"/>
            <a:ext cx="11141765" cy="393777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50E925-5544-E1C1-A963-1853EA772069}"/>
              </a:ext>
            </a:extLst>
          </p:cNvPr>
          <p:cNvSpPr txBox="1"/>
          <p:nvPr/>
        </p:nvSpPr>
        <p:spPr>
          <a:xfrm>
            <a:off x="0" y="5292546"/>
            <a:ext cx="124310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Benefits: </a:t>
            </a:r>
            <a:r>
              <a:rPr lang="en-AU" sz="1800" dirty="0">
                <a:solidFill>
                  <a:srgbClr val="388CD3"/>
                </a:solidFill>
                <a:effectLst/>
                <a:latin typeface="LMRoman10-Regular-Identity-H"/>
              </a:rPr>
              <a:t>much less to do during recovery time, much fewer transactions to consider for redo/undo, recovery becomes fast </a:t>
            </a:r>
            <a:endParaRPr lang="en-AU" dirty="0"/>
          </a:p>
          <a:p>
            <a:r>
              <a:rPr lang="en-AU" dirty="0"/>
              <a:t>Shortages: </a:t>
            </a:r>
            <a:r>
              <a:rPr lang="en-AU" sz="1800" dirty="0">
                <a:solidFill>
                  <a:srgbClr val="388CD3"/>
                </a:solidFill>
                <a:effectLst/>
                <a:latin typeface="LMRoman10-Regular-Identity-H"/>
              </a:rPr>
              <a:t>many output operations to the disk for each checkpoint as well as entries to the log regarding checkpointing</a:t>
            </a:r>
          </a:p>
          <a:p>
            <a:r>
              <a:rPr lang="en-AU" dirty="0"/>
              <a:t>Suitable for many checkpoints: </a:t>
            </a:r>
            <a:r>
              <a:rPr lang="en-AU" sz="1800" dirty="0">
                <a:solidFill>
                  <a:srgbClr val="388CD3"/>
                </a:solidFill>
                <a:effectLst/>
                <a:latin typeface="LMRoman10-Regular-Identity-H"/>
              </a:rPr>
              <a:t>systems where immediate recovery is of utmost importance </a:t>
            </a:r>
            <a:endParaRPr lang="en-AU" dirty="0"/>
          </a:p>
          <a:p>
            <a:r>
              <a:rPr lang="en-AU" dirty="0"/>
              <a:t>Not suitable for many checkpoints: </a:t>
            </a:r>
            <a:r>
              <a:rPr lang="en-AU" sz="1800" dirty="0">
                <a:solidFill>
                  <a:srgbClr val="388CD3"/>
                </a:solidFill>
                <a:effectLst/>
                <a:latin typeface="LMRoman10-Regular-Identity-H"/>
              </a:rPr>
              <a:t>systems where transaction processing should be done fast, but recovery can take a long time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37357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6F37CF-6049-7AF7-3FD0-E4A8F103D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</a:p>
        </p:txBody>
      </p:sp>
      <p:pic>
        <p:nvPicPr>
          <p:cNvPr id="6" name="Picture 5" descr="A diagram of a crash recovery&#10;&#10;AI-generated content may be incorrect.">
            <a:extLst>
              <a:ext uri="{FF2B5EF4-FFF2-40B4-BE49-F238E27FC236}">
                <a16:creationId xmlns:a16="http://schemas.microsoft.com/office/drawing/2014/main" id="{F390147B-20B0-DFE4-92A2-F4938B569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03" y="1312433"/>
            <a:ext cx="7411594" cy="547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11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1422C-A200-E390-C1AC-5A95CF68D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2DF915E-26B5-5F16-8B80-DDBCEFC37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064" y="2040834"/>
            <a:ext cx="11225872" cy="300693"/>
          </a:xfrm>
        </p:spPr>
      </p:pic>
    </p:spTree>
    <p:extLst>
      <p:ext uri="{BB962C8B-B14F-4D97-AF65-F5344CB8AC3E}">
        <p14:creationId xmlns:p14="http://schemas.microsoft.com/office/powerpoint/2010/main" val="320635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B289-69C2-66B2-C208-79D379FE2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B327B4-42B0-60D4-35AC-FF564429C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263" y="1468137"/>
            <a:ext cx="5309537" cy="3597035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DD48777-2B71-9A75-BA45-92D2DF1DD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468137"/>
            <a:ext cx="4935438" cy="335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34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69CEB-7C69-5AC8-75AF-CC483E2F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C51A-D4E5-3C0C-598A-B8E198D92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271FDCD-C68C-B426-425F-DEABF93BA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064" y="1524000"/>
            <a:ext cx="11225872" cy="300693"/>
          </a:xfrm>
        </p:spPr>
      </p:pic>
      <p:pic>
        <p:nvPicPr>
          <p:cNvPr id="13" name="Picture 12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C2B600CD-8602-9445-7E8C-8E0BB2315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908" y="2150941"/>
            <a:ext cx="9260184" cy="25561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3774A6-E28D-AD51-347E-635A9298E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95" y="4707058"/>
            <a:ext cx="10810409" cy="130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1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1625-09F6-AF65-9331-3F2742CA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2910-4C85-8D5F-F763-012188672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701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</a:p>
        </p:txBody>
      </p:sp>
      <p:pic>
        <p:nvPicPr>
          <p:cNvPr id="5" name="Content Placeholder 4" descr="A diagram of a group of people&#10;&#10;Description automatically generated with medium confidence">
            <a:extLst>
              <a:ext uri="{FF2B5EF4-FFF2-40B4-BE49-F238E27FC236}">
                <a16:creationId xmlns:a16="http://schemas.microsoft.com/office/drawing/2014/main" id="{99BF5DAF-1812-DADC-2987-26FDE65DE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18" y="1322826"/>
            <a:ext cx="11259614" cy="4547152"/>
          </a:xfrm>
        </p:spPr>
      </p:pic>
    </p:spTree>
    <p:extLst>
      <p:ext uri="{BB962C8B-B14F-4D97-AF65-F5344CB8AC3E}">
        <p14:creationId xmlns:p14="http://schemas.microsoft.com/office/powerpoint/2010/main" val="3618545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C38F16-1D5B-1A35-A844-C9B08EC82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42" y="95250"/>
            <a:ext cx="8981516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66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E925A-B87B-3F79-7550-A2A6639C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 managers in distributed databases</a:t>
            </a:r>
          </a:p>
        </p:txBody>
      </p:sp>
      <p:pic>
        <p:nvPicPr>
          <p:cNvPr id="5" name="Content Placeholder 4" descr="A diagram of a bank deposit&#10;&#10;Description automatically generated">
            <a:extLst>
              <a:ext uri="{FF2B5EF4-FFF2-40B4-BE49-F238E27FC236}">
                <a16:creationId xmlns:a16="http://schemas.microsoft.com/office/drawing/2014/main" id="{F453806B-B949-52D7-7032-5DE5FB64C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2219" y="1687365"/>
            <a:ext cx="7927561" cy="4805510"/>
          </a:xfrm>
        </p:spPr>
      </p:pic>
    </p:spTree>
    <p:extLst>
      <p:ext uri="{BB962C8B-B14F-4D97-AF65-F5344CB8AC3E}">
        <p14:creationId xmlns:p14="http://schemas.microsoft.com/office/powerpoint/2010/main" val="118236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7D69F4FA-8619-97D8-15E3-8EC5DF8D5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482" y="1203738"/>
            <a:ext cx="8835036" cy="55614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548BDA-7FF1-1FAC-A3F8-F507011C60FD}"/>
              </a:ext>
            </a:extLst>
          </p:cNvPr>
          <p:cNvSpPr txBox="1"/>
          <p:nvPr/>
        </p:nvSpPr>
        <p:spPr>
          <a:xfrm>
            <a:off x="1159565" y="434297"/>
            <a:ext cx="987286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 managers in distributed databases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8773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E3EA-E3C8-9F1D-0B1C-651D953F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701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</a:p>
        </p:txBody>
      </p:sp>
      <p:pic>
        <p:nvPicPr>
          <p:cNvPr id="5" name="Content Placeholder 4" descr="A diagram of a group of people&#10;&#10;Description automatically generated with medium confidence">
            <a:extLst>
              <a:ext uri="{FF2B5EF4-FFF2-40B4-BE49-F238E27FC236}">
                <a16:creationId xmlns:a16="http://schemas.microsoft.com/office/drawing/2014/main" id="{1C6A803E-20B7-C09D-4EC6-542F824DF6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18" y="1322826"/>
            <a:ext cx="11259614" cy="454715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B8A136-022C-3BCC-0C8B-8A44C8F8816D}"/>
              </a:ext>
            </a:extLst>
          </p:cNvPr>
          <p:cNvSpPr txBox="1"/>
          <p:nvPr/>
        </p:nvSpPr>
        <p:spPr>
          <a:xfrm>
            <a:off x="283318" y="5892710"/>
            <a:ext cx="112299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>
                <a:solidFill>
                  <a:srgbClr val="388CD3"/>
                </a:solidFill>
                <a:effectLst/>
                <a:latin typeface="LMRoman10-Regular-Identity-H"/>
              </a:rPr>
              <a:t>As you can see, the implementation of the final strategy we have seen, and in fact many strategies in DBMSs, are only </a:t>
            </a:r>
          </a:p>
          <a:p>
            <a:r>
              <a:rPr lang="en-AU" sz="1800" dirty="0">
                <a:solidFill>
                  <a:srgbClr val="388CD3"/>
                </a:solidFill>
                <a:effectLst/>
                <a:latin typeface="LMRoman10-Regular-Identity-H"/>
              </a:rPr>
              <a:t>approximations and in general pessimistic ones so that they guarantee proper executions but sometimes terminate </a:t>
            </a:r>
          </a:p>
          <a:p>
            <a:r>
              <a:rPr lang="en-AU" sz="1800" dirty="0">
                <a:solidFill>
                  <a:srgbClr val="388CD3"/>
                </a:solidFill>
                <a:effectLst/>
                <a:latin typeface="LMRoman10-Regular-Identity-H"/>
              </a:rPr>
              <a:t>transactions that would not really cause harm. </a:t>
            </a:r>
            <a:endParaRPr lang="en-AU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859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FA5D-4FC3-2068-5A1A-91F4162B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</a:t>
            </a:r>
          </a:p>
        </p:txBody>
      </p:sp>
      <p:pic>
        <p:nvPicPr>
          <p:cNvPr id="7" name="Content Placeholder 6" descr="A close up of text&#10;&#10;Description automatically generated">
            <a:extLst>
              <a:ext uri="{FF2B5EF4-FFF2-40B4-BE49-F238E27FC236}">
                <a16:creationId xmlns:a16="http://schemas.microsoft.com/office/drawing/2014/main" id="{18B5B521-1A5B-00DF-0A33-0A9BB7474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862" y="2207176"/>
            <a:ext cx="11796276" cy="1778415"/>
          </a:xfrm>
        </p:spPr>
      </p:pic>
    </p:spTree>
    <p:extLst>
      <p:ext uri="{BB962C8B-B14F-4D97-AF65-F5344CB8AC3E}">
        <p14:creationId xmlns:p14="http://schemas.microsoft.com/office/powerpoint/2010/main" val="18012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89FB-DC9D-6E05-59E9-FB5FEE9F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Two-phase commits</a:t>
            </a:r>
          </a:p>
        </p:txBody>
      </p:sp>
      <p:pic>
        <p:nvPicPr>
          <p:cNvPr id="9" name="Picture 8" descr="A diagram of a group of objects&#10;&#10;Description automatically generated">
            <a:extLst>
              <a:ext uri="{FF2B5EF4-FFF2-40B4-BE49-F238E27FC236}">
                <a16:creationId xmlns:a16="http://schemas.microsoft.com/office/drawing/2014/main" id="{A3B74C4E-93B3-FC66-E719-C71736557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0" y="2313200"/>
            <a:ext cx="5183408" cy="2630580"/>
          </a:xfrm>
          <a:prstGeom prst="rect">
            <a:avLst/>
          </a:prstGeom>
        </p:spPr>
      </p:pic>
      <p:pic>
        <p:nvPicPr>
          <p:cNvPr id="11" name="Picture 10" descr="A diagram of a group of objects&#10;&#10;Description automatically generated">
            <a:extLst>
              <a:ext uri="{FF2B5EF4-FFF2-40B4-BE49-F238E27FC236}">
                <a16:creationId xmlns:a16="http://schemas.microsoft.com/office/drawing/2014/main" id="{4F2AA4F1-7825-8368-A57B-27FB3EC47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307" y="2313200"/>
            <a:ext cx="5540283" cy="281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03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0DAA-4795-7B8B-456B-3DF7E2CB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</a:t>
            </a:r>
          </a:p>
        </p:txBody>
      </p:sp>
      <p:pic>
        <p:nvPicPr>
          <p:cNvPr id="5" name="Content Placeholder 4" descr="A close up of a document&#10;&#10;Description automatically generated">
            <a:extLst>
              <a:ext uri="{FF2B5EF4-FFF2-40B4-BE49-F238E27FC236}">
                <a16:creationId xmlns:a16="http://schemas.microsoft.com/office/drawing/2014/main" id="{E31E588E-0191-77F3-7651-570CE643E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137" y="1690688"/>
            <a:ext cx="11737725" cy="4225581"/>
          </a:xfrm>
        </p:spPr>
      </p:pic>
    </p:spTree>
    <p:extLst>
      <p:ext uri="{BB962C8B-B14F-4D97-AF65-F5344CB8AC3E}">
        <p14:creationId xmlns:p14="http://schemas.microsoft.com/office/powerpoint/2010/main" val="432575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161</Words>
  <Application>Microsoft Macintosh PowerPoint</Application>
  <PresentationFormat>Widescreen</PresentationFormat>
  <Paragraphs>24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LMRoman10-Regular-Identity-H</vt:lpstr>
      <vt:lpstr>Aptos</vt:lpstr>
      <vt:lpstr>Aptos Display</vt:lpstr>
      <vt:lpstr>Arial</vt:lpstr>
      <vt:lpstr>Times New Roman</vt:lpstr>
      <vt:lpstr>Office Theme</vt:lpstr>
      <vt:lpstr>Tutorial Week 12</vt:lpstr>
      <vt:lpstr>Q1</vt:lpstr>
      <vt:lpstr>Q1</vt:lpstr>
      <vt:lpstr>Q1</vt:lpstr>
      <vt:lpstr>Q2</vt:lpstr>
      <vt:lpstr>Q2</vt:lpstr>
      <vt:lpstr>Q2</vt:lpstr>
      <vt:lpstr>Q3</vt:lpstr>
      <vt:lpstr>PowerPoint Presentation</vt:lpstr>
      <vt:lpstr>Replica managers in distributed databases</vt:lpstr>
      <vt:lpstr>PowerPoint Presentation</vt:lpstr>
      <vt:lpstr>Q3</vt:lpstr>
      <vt:lpstr>Q4</vt:lpstr>
      <vt:lpstr>Two-phase commits</vt:lpstr>
      <vt:lpstr>Q4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4</cp:revision>
  <dcterms:created xsi:type="dcterms:W3CDTF">2024-10-15T05:14:27Z</dcterms:created>
  <dcterms:modified xsi:type="dcterms:W3CDTF">2026-05-29T05:15:45Z</dcterms:modified>
</cp:coreProperties>
</file>